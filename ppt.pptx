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37"/>
  </p:notesMasterIdLst>
  <p:sldIdLst>
    <p:sldId id="256" r:id="rId3"/>
    <p:sldId id="284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96" r:id="rId30"/>
    <p:sldId id="297" r:id="rId31"/>
    <p:sldId id="286" r:id="rId32"/>
    <p:sldId id="290" r:id="rId33"/>
    <p:sldId id="291" r:id="rId34"/>
    <p:sldId id="292" r:id="rId35"/>
    <p:sldId id="293" r:id="rId3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8" autoAdjust="0"/>
  </p:normalViewPr>
  <p:slideViewPr>
    <p:cSldViewPr snapToGrid="0" snapToObjects="1">
      <p:cViewPr varScale="1">
        <p:scale>
          <a:sx n="109" d="100"/>
          <a:sy n="109" d="100"/>
        </p:scale>
        <p:origin x="86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438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7DD15-94D9-23FA-4491-6F89A3252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9FCF6-382A-17F3-87CE-BEAD0C83CB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ADCEF0-84E9-94E7-F74D-1ACD5D58B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EAF424-0594-2000-26A8-1B6AF3B640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3450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0574" y="1"/>
            <a:ext cx="9164574" cy="51492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21444" y="1365365"/>
            <a:ext cx="3600450" cy="207164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6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21445" y="3536116"/>
            <a:ext cx="2873156" cy="1122462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1444" y="164592"/>
            <a:ext cx="20278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26580" y="164592"/>
            <a:ext cx="112152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2050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913089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76167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1" y="8925"/>
            <a:ext cx="9144001" cy="514928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344440"/>
            <a:ext cx="4243851" cy="2018519"/>
          </a:xfrm>
        </p:spPr>
        <p:txBody>
          <a:bodyPr/>
          <a:lstStyle>
            <a:lvl1pPr>
              <a:defRPr sz="34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21698" y="387450"/>
            <a:ext cx="1945361" cy="122091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9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21699" y="164592"/>
            <a:ext cx="187803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1" y="164592"/>
            <a:ext cx="85978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28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9141714" cy="51435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347883"/>
            <a:ext cx="9141714" cy="1795618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00825" y="3347883"/>
            <a:ext cx="2540890" cy="1795618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0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28242" y="164592"/>
            <a:ext cx="2055462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649571" y="164592"/>
            <a:ext cx="1468493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521647" y="164592"/>
            <a:ext cx="336604" cy="27432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373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913587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85" y="3233854"/>
            <a:ext cx="6439003" cy="1776225"/>
          </a:xfrm>
        </p:spPr>
        <p:txBody>
          <a:bodyPr anchor="b">
            <a:normAutofit/>
          </a:bodyPr>
          <a:lstStyle>
            <a:lvl1pPr>
              <a:defRPr sz="5175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1992134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4592"/>
            <a:ext cx="143494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4" y="164592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6573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1"/>
            <a:ext cx="9144000" cy="21518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76" y="1604082"/>
            <a:ext cx="4824950" cy="1471612"/>
          </a:xfrm>
        </p:spPr>
        <p:txBody>
          <a:bodyPr anchor="t">
            <a:normAutofit/>
          </a:bodyPr>
          <a:lstStyle>
            <a:lvl1pPr>
              <a:defRPr sz="66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14975" y="161144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4976" y="1604082"/>
            <a:ext cx="2788815" cy="3082218"/>
          </a:xfrm>
        </p:spPr>
        <p:txBody>
          <a:bodyPr vert="horz" lIns="91440" tIns="45720" rIns="91440" bIns="45720" rtlCol="0" anchor="t">
            <a:normAutofit/>
          </a:bodyPr>
          <a:lstStyle>
            <a:lvl1pPr marL="342900" indent="-342900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6074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7487" y="1916813"/>
            <a:ext cx="9144000" cy="325793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139" y="2611285"/>
            <a:ext cx="4122320" cy="1569204"/>
          </a:xfrm>
        </p:spPr>
        <p:txBody>
          <a:bodyPr anchor="t">
            <a:normAutofit/>
          </a:bodyPr>
          <a:lstStyle>
            <a:lvl1pPr>
              <a:defRPr sz="57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9144000" cy="1916813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5246" y="2050551"/>
            <a:ext cx="204549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39176" y="2050551"/>
            <a:ext cx="1190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87461" y="2050551"/>
            <a:ext cx="39502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39176" y="2611285"/>
            <a:ext cx="2937077" cy="2074415"/>
          </a:xfrm>
        </p:spPr>
        <p:txBody>
          <a:bodyPr vert="horz" lIns="91440" tIns="45720" rIns="91440" bIns="45720" rtlCol="0">
            <a:normAutofit/>
          </a:bodyPr>
          <a:lstStyle>
            <a:lvl1pPr marL="2571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1pPr>
            <a:lvl2pPr marL="42862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2pPr>
            <a:lvl3pPr marL="600075" indent="-257175"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050" dirty="0">
                <a:solidFill>
                  <a:schemeClr val="tx1"/>
                </a:solidFill>
              </a:defRPr>
            </a:lvl5pPr>
          </a:lstStyle>
          <a:p>
            <a:pPr marL="171450" lvl="0" indent="-171450"/>
            <a:r>
              <a:rPr lang="en-US"/>
              <a:t>Click to edit Master text styles</a:t>
            </a:r>
          </a:p>
          <a:p>
            <a:pPr marL="171450" lvl="1" indent="-171450"/>
            <a:r>
              <a:rPr lang="en-US"/>
              <a:t>Second level</a:t>
            </a:r>
          </a:p>
          <a:p>
            <a:pPr marL="171450" lvl="2" indent="-171450"/>
            <a:r>
              <a:rPr lang="en-US"/>
              <a:t>Third level</a:t>
            </a:r>
          </a:p>
          <a:p>
            <a:pPr marL="171450" lvl="3" indent="-171450"/>
            <a:r>
              <a:rPr lang="en-US"/>
              <a:t>Fourth level</a:t>
            </a:r>
          </a:p>
          <a:p>
            <a:pPr marL="171450" lvl="4" indent="-17145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669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4743451" y="1"/>
            <a:ext cx="4410941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139" y="957742"/>
            <a:ext cx="4033700" cy="739244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563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7721" y="161144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608" y="1853802"/>
            <a:ext cx="4033701" cy="2747051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8863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3305175"/>
            <a:ext cx="6858000" cy="183832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175" y="1415034"/>
            <a:ext cx="2630992" cy="2425446"/>
          </a:xfrm>
        </p:spPr>
        <p:txBody>
          <a:bodyPr anchor="t"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56296"/>
            <a:ext cx="1899089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00550" y="156296"/>
            <a:ext cx="15131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2441" y="156296"/>
            <a:ext cx="414867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00551" y="1415034"/>
            <a:ext cx="3371850" cy="242544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467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327" y="836676"/>
            <a:ext cx="1878948" cy="121809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013036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30548" y="161867"/>
            <a:ext cx="1114425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682" y="161867"/>
            <a:ext cx="411954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1327" y="2271392"/>
            <a:ext cx="1878948" cy="25577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30548" y="885825"/>
            <a:ext cx="6613452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909047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3000375" cy="10143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4325" y="164592"/>
            <a:ext cx="2045948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5924" y="164592"/>
            <a:ext cx="131083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0461" y="162210"/>
            <a:ext cx="413335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5924" y="828675"/>
            <a:ext cx="5193752" cy="1014387"/>
          </a:xfrm>
        </p:spPr>
        <p:txBody>
          <a:bodyPr>
            <a:normAutofit/>
          </a:bodyPr>
          <a:lstStyle>
            <a:lvl1pPr marL="214313" indent="-214313">
              <a:buFont typeface="Arial" panose="020B0604020202020204" pitchFamily="34" charset="0"/>
              <a:buNone/>
              <a:defRPr sz="1050"/>
            </a:lvl1pPr>
            <a:lvl2pPr marL="385763" indent="-214313">
              <a:buFont typeface="Arial" panose="020B0604020202020204" pitchFamily="34" charset="0"/>
              <a:buNone/>
              <a:defRPr sz="1050"/>
            </a:lvl2pPr>
            <a:lvl3pPr marL="557213" indent="-214313">
              <a:buFont typeface="Arial" panose="020B0604020202020204" pitchFamily="34" charset="0"/>
              <a:buNone/>
              <a:defRPr sz="1050"/>
            </a:lvl3pPr>
            <a:lvl4pPr marL="642938" indent="-128588">
              <a:buFont typeface="Arial" panose="020B0604020202020204" pitchFamily="34" charset="0"/>
              <a:buNone/>
              <a:defRPr sz="1050"/>
            </a:lvl4pPr>
            <a:lvl5pPr marL="814388" indent="-128588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203882"/>
            <a:ext cx="9144000" cy="2939618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0234684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7"/>
            <a:ext cx="1885950" cy="218918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188595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567811" y="1"/>
            <a:ext cx="6576190" cy="298928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3058221"/>
            <a:ext cx="144018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3058221"/>
            <a:ext cx="416961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3317682"/>
            <a:ext cx="6315075" cy="1368618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5695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1005" y="836677"/>
            <a:ext cx="3935683" cy="74559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4592"/>
            <a:ext cx="2200275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22434" y="156816"/>
            <a:ext cx="1383033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00639" y="156816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885825"/>
            <a:ext cx="3935683" cy="4257675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1005" y="1600200"/>
            <a:ext cx="3935683" cy="30861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74996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43" y="836676"/>
            <a:ext cx="2705753" cy="2377909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2326" y="161144"/>
            <a:ext cx="1947830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34432" y="161144"/>
            <a:ext cx="1190033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73208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34432" y="834504"/>
            <a:ext cx="5195243" cy="147585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77310" y="2625153"/>
            <a:ext cx="5466691" cy="2518348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9431036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2571751"/>
            <a:ext cx="1875980" cy="1913987"/>
          </a:xfrm>
        </p:spPr>
        <p:txBody>
          <a:bodyPr anchor="t">
            <a:normAutofit/>
          </a:bodyPr>
          <a:lstStyle>
            <a:lvl1pPr>
              <a:defRPr sz="225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9144000" cy="2028824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2148968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14600" y="2148968"/>
            <a:ext cx="1475509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8743" y="2148968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514600" y="2571750"/>
            <a:ext cx="6157653" cy="2257425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050"/>
            </a:lvl1pPr>
            <a:lvl2pPr marL="171450" indent="0">
              <a:buFont typeface="Arial" panose="020B0604020202020204" pitchFamily="34" charset="0"/>
              <a:buNone/>
              <a:defRPr sz="1050"/>
            </a:lvl2pPr>
            <a:lvl3pPr marL="342900" indent="0">
              <a:buFont typeface="Arial" panose="020B0604020202020204" pitchFamily="34" charset="0"/>
              <a:buNone/>
              <a:defRPr sz="1050"/>
            </a:lvl3pPr>
            <a:lvl4pPr marL="514350" indent="0">
              <a:buFont typeface="Arial" panose="020B0604020202020204" pitchFamily="34" charset="0"/>
              <a:buNone/>
              <a:defRPr sz="1050"/>
            </a:lvl4pPr>
            <a:lvl5pPr marL="6858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074154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673" y="836676"/>
            <a:ext cx="2702442" cy="1057409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629025" y="156816"/>
            <a:ext cx="1885950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4515" y="164592"/>
            <a:ext cx="423256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4673" y="2028825"/>
            <a:ext cx="2702442" cy="2771775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701452" y="881743"/>
            <a:ext cx="5442548" cy="4261757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340714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3455719"/>
            <a:ext cx="3314700" cy="123058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435" y="1"/>
            <a:ext cx="3627590" cy="316064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55956" y="156816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2893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5957" y="828675"/>
            <a:ext cx="4312786" cy="3857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1917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836676"/>
            <a:ext cx="2329001" cy="122738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4295" y="161144"/>
            <a:ext cx="2044782" cy="25374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41641" y="161144"/>
            <a:ext cx="1902741" cy="253746"/>
          </a:xfrm>
        </p:spPr>
        <p:txBody>
          <a:bodyPr/>
          <a:lstStyle/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69630" y="161144"/>
            <a:ext cx="416961" cy="253746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2263140"/>
            <a:ext cx="2563427" cy="288036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41642" y="828676"/>
            <a:ext cx="5607428" cy="40004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494270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9144000" cy="5148072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9300" y="3811784"/>
            <a:ext cx="3000375" cy="876923"/>
          </a:xfrm>
        </p:spPr>
        <p:txBody>
          <a:bodyPr anchor="b">
            <a:normAutofit/>
          </a:bodyPr>
          <a:lstStyle>
            <a:lvl1pPr>
              <a:defRPr sz="1500" spc="-38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29300" y="156816"/>
            <a:ext cx="1478018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10742" y="797719"/>
            <a:ext cx="7821215" cy="2631281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195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14873876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1"/>
            <a:ext cx="9144000" cy="36021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-850392"/>
            <a:ext cx="7989570" cy="6858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4325" y="2164205"/>
            <a:ext cx="6600826" cy="2664970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4500" b="0" spc="-38" baseline="0">
                <a:solidFill>
                  <a:schemeClr val="tx1"/>
                </a:solidFill>
              </a:defRPr>
            </a:lvl1pPr>
            <a:lvl2pPr marL="171450" indent="0">
              <a:lnSpc>
                <a:spcPct val="85000"/>
              </a:lnSpc>
              <a:buNone/>
              <a:defRPr sz="3300" b="0" spc="-38" baseline="0">
                <a:solidFill>
                  <a:schemeClr val="tx1"/>
                </a:solidFill>
              </a:defRPr>
            </a:lvl2pPr>
            <a:lvl3pPr marL="342900" indent="0">
              <a:lnSpc>
                <a:spcPct val="85000"/>
              </a:lnSpc>
              <a:buNone/>
              <a:defRPr sz="3000" b="0" spc="-38" baseline="0">
                <a:solidFill>
                  <a:schemeClr val="tx1"/>
                </a:solidFill>
              </a:defRPr>
            </a:lvl3pPr>
            <a:lvl4pPr marL="514350" indent="0">
              <a:lnSpc>
                <a:spcPct val="85000"/>
              </a:lnSpc>
              <a:buNone/>
              <a:defRPr sz="2700" b="0" spc="-38" baseline="0">
                <a:solidFill>
                  <a:schemeClr val="tx1"/>
                </a:solidFill>
              </a:defRPr>
            </a:lvl4pPr>
            <a:lvl5pPr marL="685800" indent="0">
              <a:lnSpc>
                <a:spcPct val="85000"/>
              </a:lnSpc>
              <a:buNone/>
              <a:defRPr sz="2400" b="0" spc="-38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5058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9144000" cy="514807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00175" y="3655664"/>
            <a:ext cx="6379925" cy="499820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050" b="0" cap="all" spc="75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00175" y="1392072"/>
            <a:ext cx="6379925" cy="2141541"/>
          </a:xfrm>
        </p:spPr>
        <p:txBody>
          <a:bodyPr anchor="ctr">
            <a:normAutofit/>
          </a:bodyPr>
          <a:lstStyle>
            <a:lvl1pPr marL="123444" indent="-123444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3750" spc="-38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07738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836676"/>
            <a:ext cx="6286500" cy="52624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09118" y="1425178"/>
            <a:ext cx="3693319" cy="326112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4624606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992" y="699073"/>
            <a:ext cx="8126654" cy="52806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00825" y="161144"/>
            <a:ext cx="1440180" cy="25374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3991" y="1256710"/>
            <a:ext cx="3685439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23850" y="1713766"/>
            <a:ext cx="3675580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14875" y="1256710"/>
            <a:ext cx="3725771" cy="41987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200" b="1" cap="all" baseline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709551" y="1713766"/>
            <a:ext cx="3737072" cy="29725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88936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6285232" cy="65714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75924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768434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295" y="569214"/>
            <a:ext cx="5707251" cy="1301150"/>
          </a:xfrm>
        </p:spPr>
        <p:txBody>
          <a:bodyPr anchor="t">
            <a:no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4325" y="2028826"/>
            <a:ext cx="6600825" cy="221066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10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0" y="0"/>
            <a:ext cx="9143999" cy="51435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2028579"/>
            <a:ext cx="4099245" cy="2050038"/>
          </a:xfrm>
        </p:spPr>
        <p:txBody>
          <a:bodyPr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29163" y="2028825"/>
            <a:ext cx="3307556" cy="11715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980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7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26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594" y="835133"/>
            <a:ext cx="7456807" cy="65714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63" y="1600200"/>
            <a:ext cx="7456807" cy="32289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4295" y="161144"/>
            <a:ext cx="2044782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600825" y="161144"/>
            <a:ext cx="1440180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F288AF9F-2338-4040-A485-373B8EC8151E}" type="datetime1">
              <a:rPr lang="en-US" smtClean="0"/>
              <a:pPr/>
              <a:t>7/31/2026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68743" y="161144"/>
            <a:ext cx="416961" cy="25374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525" cap="all" baseline="0">
                <a:solidFill>
                  <a:schemeClr val="tx1"/>
                </a:solidFill>
              </a:defRPr>
            </a:lvl1pPr>
          </a:lstStyle>
          <a:p>
            <a:fld id="{8E274F5D-21DC-40EF-8DBA-AB9BB119E93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25948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hf sldNum="0" hdr="0" ftr="0" dt="0"/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250" b="0" kern="1200" spc="-83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20000"/>
        </a:lnSpc>
        <a:spcBef>
          <a:spcPts val="750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51435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0" algn="l" defTabSz="685800" rtl="0" eaLnBrk="1" latinLnBrk="0" hangingPunct="1">
        <a:lnSpc>
          <a:spcPct val="120000"/>
        </a:lnSpc>
        <a:spcBef>
          <a:spcPts val="375"/>
        </a:spcBef>
        <a:buFont typeface="Arial" panose="020B0604020202020204" pitchFamily="34" charset="0"/>
        <a:buNone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70B21E-2FAA-423F-5C24-04C7ACB936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36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4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090D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97B2CD-E6DB-10F3-CB63-5FDD5359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C9A42F7-E70C-90C7-BED6-EEFC089054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A14144-41C2-035B-B646-CF20F1886F53}"/>
              </a:ext>
            </a:extLst>
          </p:cNvPr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EF96585-193D-7DE7-AD97-6E5F6288BFA0}"/>
              </a:ext>
            </a:extLst>
          </p:cNvPr>
          <p:cNvSpPr/>
          <p:nvPr/>
        </p:nvSpPr>
        <p:spPr>
          <a:xfrm>
            <a:off x="822960" y="480060"/>
            <a:ext cx="7589520" cy="9372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dirty="0">
                <a:solidFill>
                  <a:schemeClr val="accent4"/>
                </a:solidFill>
                <a:latin typeface="Agency FB" panose="020B0503020202020204" pitchFamily="34" charset="0"/>
              </a:rPr>
              <a:t>Stay Motivated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44FA83D-2A08-1A20-AEC6-61A1B0E335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82FA7C3-B2AE-2042-813B-D57B6A1FD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12397FC-F9AD-65B2-9724-C79B2A553C9B}"/>
              </a:ext>
            </a:extLst>
          </p:cNvPr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Touch on Hard Work, Mindset, and the Realities of Competition</a:t>
            </a:r>
            <a:r>
              <a:rPr lang="en-IN" sz="1600" dirty="0">
                <a:solidFill>
                  <a:schemeClr val="bg1"/>
                </a:solidFill>
              </a:rPr>
              <a:t>. </a:t>
            </a:r>
            <a:endParaRPr lang="en-US" sz="1500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AD9B819-1314-A353-A396-7D28A762C4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0FAD084A-DC62-048F-A689-5CF8F5C2EDCD}"/>
              </a:ext>
            </a:extLst>
          </p:cNvPr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Victories are cool, but the experiences you rack up along the way? That's the good stuff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41E0844E-9299-7A29-69B2-253179722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23665AD-5F6F-FD86-0C00-F100504AEF53}"/>
              </a:ext>
            </a:extLst>
          </p:cNvPr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Lowering your resistance to change, removing bias and being willing to adapt will help you tackle whatever comes your way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3013080-4A48-C0AA-E783-2CFA4D7E9B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4D0F54A-BD69-7C24-F5B5-EA26556935C6}"/>
              </a:ext>
            </a:extLst>
          </p:cNvPr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200" dirty="0">
                <a:solidFill>
                  <a:schemeClr val="bg1"/>
                </a:solidFill>
              </a:rPr>
              <a:t>Preparedness for a game that usually lasts four-five hours requires good physical condition and also steady nerves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0B4F97E9-A98C-BE3E-AB3E-7B4EA8BA00F6}"/>
              </a:ext>
            </a:extLst>
          </p:cNvPr>
          <p:cNvSpPr/>
          <p:nvPr/>
        </p:nvSpPr>
        <p:spPr>
          <a:xfrm>
            <a:off x="594360" y="4206240"/>
            <a:ext cx="76809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dirty="0">
                <a:solidFill>
                  <a:srgbClr val="FF0000"/>
                </a:solidFill>
                <a:latin typeface="Blackadder ITC" panose="04020505051007020D02" pitchFamily="82" charset="0"/>
              </a:rPr>
              <a:t>-Vishwanathan Anand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Algerian" panose="04020705040A02060702" pitchFamily="82" charset="0"/>
              </a:rPr>
              <a:t>FIDE</a:t>
            </a: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 Vice President 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First Grandmaster from India</a:t>
            </a:r>
          </a:p>
          <a:p>
            <a:pPr marL="0" indent="0" algn="r">
              <a:buNone/>
            </a:pPr>
            <a:r>
              <a:rPr lang="en-US" sz="1500" dirty="0">
                <a:solidFill>
                  <a:srgbClr val="00B0F0"/>
                </a:solidFill>
                <a:latin typeface="Blackadder ITC" panose="04020505051007020D02" pitchFamily="82" charset="0"/>
              </a:rPr>
              <a:t>Five time world champion</a:t>
            </a: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CD583B5-DF79-A2F9-C8CC-C9ACC948FE00}"/>
              </a:ext>
            </a:extLst>
          </p:cNvPr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76322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DFC6C4-43F6-9E36-0F72-9F06E2AF5D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19936"/>
            <a:ext cx="9144000" cy="510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319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Rules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REGULATIONS &amp; GOVERNING PRINCIPLES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Laws of Chess will be followed wherever applicable.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Touch-move rule applies strictly during all rounds.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Illegal moves will be handled immediately by the official arbiter.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 must maintain absolute silence during active games.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Spectators are strictly prohibited from interfering or offering advice.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1 OF 9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1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7" dur="2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Control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CLOCKS, ALLOTTED DURATIONS &amp; TIME LIMITS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control parameters will be officially announced before tournament commencement.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digital/analog clocks are available, players must press the clock after each completed move.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clocks are unavailable, the arbiter may impose a time limit if a game exceeds the allotted duration.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2 OF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 Play Policy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INTEGRITY, ETHICS &amp; ANTI-CHEATING DIRECTIVES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electronic devices allowed in the playing hall during games.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engine or human assistance permitted from spectators, coaches, or other players.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Unsporting behavior or disruption may result in formal warnings or immediate disqualification.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decisions of the Chief Arbiter are final and binding.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3 OF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Tournament Format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PAIRINGS, SYSTEMS &amp; STANDINGS PROGRESSION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structure will utilize the Swiss System or Round Robin (depending on total entries).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pairings will be announced prior to the start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 winners are determined strictly by cumulative points scored.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tiebreak systems will be calculated and applied if necessary.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4 OF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Scoring System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ALLOCATION MATRIX PER GAME RESULT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8241"/>
              </p:ext>
            </p:extLst>
          </p:nvPr>
        </p:nvGraphicFramePr>
        <p:xfrm>
          <a:off x="914400" y="1920240"/>
          <a:ext cx="7315200" cy="1508760"/>
        </p:xfrm>
        <a:graphic>
          <a:graphicData uri="http://schemas.openxmlformats.org/drawingml/2006/table">
            <a:tbl>
              <a:tblPr firstRow="1"/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MATCH RESULT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4AF37"/>
                          </a:solidFill>
                        </a:rPr>
                        <a:t>POINTS AWARDED</a:t>
                      </a:r>
                      <a:endParaRPr lang="en-US" sz="13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Win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Draw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0.5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Loss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0 points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F3F4F6"/>
                          </a:solidFill>
                        </a:rPr>
                        <a:t>Bye (if applicable)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D4AF37"/>
                          </a:solidFill>
                        </a:rPr>
                        <a:t>1 point</a:t>
                      </a:r>
                      <a:endParaRPr lang="en-US" sz="1400" dirty="0"/>
                    </a:p>
                  </a:txBody>
                  <a:tcPr>
                    <a:lnL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7415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5 OF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Tie-break Criteria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TIEBREAK SYSTEMS FOR EQUAL SCORES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two or more players finish with the exact same score: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Buchholz Score (Swiss System)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Sonneborn-Berger Score (Round Robin)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Direct Encounter (Head-to-head result)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Total Number of Wins</a:t>
            </a:r>
            <a:endParaRPr lang="en-US" sz="1500" dirty="0"/>
          </a:p>
        </p:txBody>
      </p:sp>
      <p:sp>
        <p:nvSpPr>
          <p:cNvPr id="16" name="Shap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9377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7" name="Text 15"/>
          <p:cNvSpPr/>
          <p:nvPr/>
        </p:nvSpPr>
        <p:spPr>
          <a:xfrm>
            <a:off x="1143000" y="48006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Blitz Play-off Match (if required by Arbiter)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6 OF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Arbiter's Duties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RESPONSIBILITIES OF TECHNICAL OFFICIALS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publish accurate pairings before each round.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Officially start and signal the end of each round.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all active game disputes, claim verifications, and illegal move penalties.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Record, verify, and maintain official game score sheets and results.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fair play standards and uphold playing hall discipline.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7 OF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of Conduct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SPORTSMANSHIP &amp; PLAYER ETIQUETTE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 opponents, arbiters, organizers, and venue personnel at all times.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hands respectfully before the start and after the conclusion of every game.</a:t>
            </a:r>
            <a:endParaRPr lang="en-US" sz="1500" dirty="0"/>
          </a:p>
        </p:txBody>
      </p:sp>
      <p:sp>
        <p:nvSpPr>
          <p:cNvPr id="10" name="Shap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15468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1" name="Text 9"/>
          <p:cNvSpPr/>
          <p:nvPr/>
        </p:nvSpPr>
        <p:spPr>
          <a:xfrm>
            <a:off x="1143000" y="30175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distract, annoy, or provoke other players during active play.</a:t>
            </a:r>
            <a:endParaRPr lang="en-US" sz="1500" dirty="0"/>
          </a:p>
        </p:txBody>
      </p:sp>
      <p:sp>
        <p:nvSpPr>
          <p:cNvPr id="12" name="Shap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374904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3" name="Text 11"/>
          <p:cNvSpPr/>
          <p:nvPr/>
        </p:nvSpPr>
        <p:spPr>
          <a:xfrm>
            <a:off x="1143000" y="3611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all official arbiter decisions with grace and sportsmanship.</a:t>
            </a:r>
            <a:endParaRPr lang="en-US" sz="1500" dirty="0"/>
          </a:p>
        </p:txBody>
      </p:sp>
      <p:sp>
        <p:nvSpPr>
          <p:cNvPr id="14" name="Shap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4340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5" name="Text 13"/>
          <p:cNvSpPr/>
          <p:nvPr/>
        </p:nvSpPr>
        <p:spPr>
          <a:xfrm>
            <a:off x="1143000" y="420624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absolute honesty and true sportsmanship.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8 OF 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9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457200"/>
            <a:ext cx="91440" cy="7315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Text 1"/>
          <p:cNvSpPr/>
          <p:nvPr/>
        </p:nvSpPr>
        <p:spPr>
          <a:xfrm>
            <a:off x="914400" y="457200"/>
            <a:ext cx="7498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D4AF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Equipment &amp; Material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1143000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SET SPECIFICATIONS &amp; CLOCK SETUP</a:t>
            </a:r>
            <a:endParaRPr lang="en-US" sz="1100" dirty="0"/>
          </a:p>
        </p:txBody>
      </p:sp>
      <p:sp>
        <p:nvSpPr>
          <p:cNvPr id="5" name="Shape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31520" y="1463040"/>
            <a:ext cx="7680960" cy="0"/>
          </a:xfrm>
          <a:prstGeom prst="line">
            <a:avLst/>
          </a:prstGeom>
          <a:noFill/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6" name="Shape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96596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7" name="Text 5"/>
          <p:cNvSpPr/>
          <p:nvPr/>
        </p:nvSpPr>
        <p:spPr>
          <a:xfrm>
            <a:off x="1143000" y="18288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certified standard tournament chess clocks.</a:t>
            </a:r>
            <a:endParaRPr lang="en-US" sz="1500" dirty="0"/>
          </a:p>
        </p:txBody>
      </p:sp>
      <p:sp>
        <p:nvSpPr>
          <p:cNvPr id="8" name="Shap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2560320"/>
            <a:ext cx="109728" cy="109728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9" name="Text 7"/>
          <p:cNvSpPr/>
          <p:nvPr/>
        </p:nvSpPr>
        <p:spPr>
          <a:xfrm>
            <a:off x="1143000" y="24231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boards, pieces, and complete sets comply with competition standards.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6309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 OFFICIAL TOURNAMENT REGULATIONS  •  SLIDE 9 OF 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431"/>
            <a:ext cx="9144000" cy="51006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0BA85-2627-D7C0-10E8-338438B93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B247EA4-E873-8DB3-C954-FE8CD470B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606" y="0"/>
            <a:ext cx="50767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1888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2A9A2-5E8E-37E7-E5E9-F10662C68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5EDCC0-8952-25F6-A729-927D05F07A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3606" y="0"/>
            <a:ext cx="5076788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4830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6EA3B3-545F-8A6D-D266-067BF90AF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6B6B96-286B-2F88-09C9-8D9C3FEA6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918" y="699826"/>
            <a:ext cx="3858163" cy="374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441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361A2-058B-D9F8-EF52-F0B5CDBFE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9676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57BFA-D424-C4AD-58A8-62C94F7F5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961287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127E9-5AB0-8E24-F59F-F818E19E8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21848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34E2E-A5EC-F288-2E42-60DFA5A77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0651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664</Words>
  <Application>Microsoft Office PowerPoint</Application>
  <PresentationFormat>On-screen Show (16:9)</PresentationFormat>
  <Paragraphs>91</Paragraphs>
  <Slides>34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34</vt:i4>
      </vt:variant>
    </vt:vector>
  </HeadingPairs>
  <TitlesOfParts>
    <vt:vector size="43" baseType="lpstr">
      <vt:lpstr>Agency FB</vt:lpstr>
      <vt:lpstr>Algerian</vt:lpstr>
      <vt:lpstr>Arial</vt:lpstr>
      <vt:lpstr>Blackadder ITC</vt:lpstr>
      <vt:lpstr>Calibri</vt:lpstr>
      <vt:lpstr>Georgia</vt:lpstr>
      <vt:lpstr>Neue Haas Grotesk Text Pro</vt:lpstr>
      <vt:lpstr>Office Theme</vt:lpstr>
      <vt:lpstr>Film Burn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Chess Tournament Rules</dc:title>
  <dc:subject>PptxGenJS Presentation</dc:subject>
  <dc:creator>Krishay Prakash</dc:creator>
  <cp:lastModifiedBy>Krishay Prakash</cp:lastModifiedBy>
  <cp:revision>12</cp:revision>
  <dcterms:created xsi:type="dcterms:W3CDTF">2026-07-28T12:28:14Z</dcterms:created>
  <dcterms:modified xsi:type="dcterms:W3CDTF">2026-07-31T10:06:39Z</dcterms:modified>
</cp:coreProperties>
</file>